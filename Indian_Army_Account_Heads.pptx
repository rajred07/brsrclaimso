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ACCOUNT HEADS OF THE INDIAN ARMY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2600" b="1" u="sng">
                <a:solidFill>
                  <a:srgbClr val="FF0000"/>
                </a:solidFill>
              </a:defRPr>
            </a:pPr>
            <a:r>
              <a:t>DIRECTED BY DGFP INDIA</a:t>
            </a:r>
          </a:p>
          <a:p>
            <a:pPr algn="ctr">
              <a:spcAft>
                <a:spcPts val="1800"/>
              </a:spcAft>
              <a:defRPr sz="2800" b="1">
                <a:solidFill>
                  <a:srgbClr val="000000"/>
                </a:solidFill>
              </a:defRPr>
            </a:pPr>
            <a:r>
              <a:t>Financial Planning &amp; Budgetary Accounting Structure</a:t>
            </a:r>
          </a:p>
          <a:p>
            <a:pPr algn="ctr">
              <a:defRPr sz="2200" b="1">
                <a:solidFill>
                  <a:srgbClr val="0000FF"/>
                </a:solidFill>
              </a:defRPr>
            </a:pPr>
            <a:r>
              <a:t>Detailed Analysis of Major &amp; Minor Account Heads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DGFP: STRATEGIC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DIRECTED BY DGFP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Directorate General of Financial Planning (DGFP) governs Army budget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Formulates long-term and annual financial plans for defence readiness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Monitors expenditure allocations across all commands &amp; formations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Ensures optimal resource utilization and financial discipline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CONCEPT OF ACCOUNT HEADS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TYPES &amp;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Standardized accounting codes used to classify government expenditure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Major Heads: Define broad functions of the Indian Army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Minor Heads: Identify specific programs and activities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Ensures parliamentary control and financial transparency</a:t>
            </a:r>
          </a:p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Facilitates auditing by CGDA, CDAO, and CAG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CLASSIFICATION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6-TIER ACCOUNTING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MAJOR HEAD (4-Digit): Defines the Function (e.g., Army Revenue)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MINOR HEAD (3-Digit): Defines Program / Purpose (e.g., Stores, Pay)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SUB HEAD (2-Digit): Defines Sub-Scheme / Activity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DETAILED HEAD (2-Digit): Defines Sub-activity details</a:t>
            </a:r>
          </a:p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OBJECT HEAD (2-Digit): Defines exact object of spend (e.g., Rations)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WHAT THEY GOVERN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PRIMARY FUNCTIONAL HEADS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MH 2076 (Revenue): Governs recurring operational expenditure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Deals with pay &amp; allowances, rations, stores, and transport maintenance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MH 4076 (Capital): Governs non-recurring capital investments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Deals with land acquisition, weapon systems, tanks, &amp;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MAJOR HEADS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REVENUE VS CAPITAL HEADS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Revenue Heads: MH 2076 (Army), MH 2077 (Navy), MH 2078 (Air Force)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Capital Outlay: MH 4076 encompasses capital for all 3 services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MH 2076 consists of Minor Heads 101 through 800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MH 4076 contains Sub-Major Head 01 dedicated to Army Capital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MINOR HEADS (3-DIGIT)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PROGRAM LEVEL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Minor Head 101: Pay &amp; Allowances for Officers &amp; Personnel (PBOR)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Minor Head 110: Stores (Rations, Ordnance spares, Arms, Ammunition)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Minor Head 105: Transportation (Move of troops, rail/air freight, POL)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Minor Head 111: Works (Maintenance of cantonments &amp; barracks)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REVENUE EXPENDITURE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MH 2076: DAILY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Sustenance and operational maintenance of the standing army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Operation &amp; Maintenance (O&amp;M) recurring costs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Routine logistics support, training exercises, and repairs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Focuses on immediate combat readiness without asset creation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CAPITAL EXPENDITURE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MH 4076: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Non-recurring large-scale capital investments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Minor Head 050: Land acquisition for firing ranges &amp; bases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Minor Head 102: Heavy Vehicles (Tanks, BMPs, Armoured Fighting Vehicles)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Minor Head 103: Other Equipment (Artillery, Radars, Missiles)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SPECIFIC SPEND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SUB HEAD &amp; DETAILED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Sub Head (2-Digit): Identifies specific unit type or scheme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Example: ASC Supplies / Ordnance Depots / Infantry Formations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Detailed Head: Identifies exact sub-item of expenditure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Object Head: Exact bill item code (e.g., Provisions / Dry Rations)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BUDGET ALLOCATION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THE FINANCIAL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Step 1: Ministry of Finance &amp; Parliament pass Demand No. 20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Step 2: Ministry of Defence (MoD) allocates budget to DGFP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Step 3: DGFP / Army HQ distributes across Major &amp; Minor Heads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Step 4: Command HQs allocate funds down to Unit Level for spending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 u="sng">
                <a:solidFill>
                  <a:srgbClr val="FFFF00"/>
                </a:solidFill>
              </a:defRPr>
            </a:pPr>
            <a:r>
              <a:t>DISCUSSION /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u="sng">
                <a:solidFill>
                  <a:srgbClr val="FF0000"/>
                </a:solidFill>
              </a:defRPr>
            </a:pPr>
            <a:r>
              <a:t>SUMMARY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 b="1">
                <a:solidFill>
                  <a:srgbClr val="FF0000"/>
                </a:solidFill>
              </a:defRPr>
            </a:pPr>
            <a:r>
              <a:t>&gt;  Strategic alignment of financial resources with national defence requirements</a:t>
            </a:r>
          </a:p>
          <a:p>
            <a:pPr>
              <a:spcAft>
                <a:spcPts val="1600"/>
              </a:spcAft>
              <a:defRPr sz="2100" b="1">
                <a:solidFill>
                  <a:srgbClr val="0000FF"/>
                </a:solidFill>
              </a:defRPr>
            </a:pPr>
            <a:r>
              <a:t>&gt;  Precision accounting ensured through 4-digit Major and 3-digit Minor heads</a:t>
            </a:r>
          </a:p>
          <a:p>
            <a:pPr>
              <a:spcAft>
                <a:spcPts val="1600"/>
              </a:spcAft>
              <a:defRPr sz="2100" b="1">
                <a:solidFill>
                  <a:srgbClr val="008000"/>
                </a:solidFill>
              </a:defRPr>
            </a:pPr>
            <a:r>
              <a:t>&gt;  Rigorous audit oversight by CGDA, CDAO, and CAG India</a:t>
            </a:r>
          </a:p>
          <a:p>
            <a:pPr>
              <a:spcAft>
                <a:spcPts val="1600"/>
              </a:spcAft>
              <a:defRPr sz="2100" b="1">
                <a:solidFill>
                  <a:srgbClr val="000000"/>
                </a:solidFill>
              </a:defRPr>
            </a:pPr>
            <a:r>
              <a:t>&gt;  Open for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